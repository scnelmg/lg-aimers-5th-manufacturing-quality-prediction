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3" r:id="rId3"/>
    <p:sldId id="286" r:id="rId4"/>
    <p:sldId id="287" r:id="rId5"/>
    <p:sldId id="288" r:id="rId6"/>
    <p:sldId id="289" r:id="rId7"/>
    <p:sldId id="290" r:id="rId8"/>
    <p:sldId id="291" r:id="rId9"/>
    <p:sldId id="284" r:id="rId10"/>
    <p:sldId id="292" r:id="rId11"/>
    <p:sldId id="293" r:id="rId12"/>
    <p:sldId id="296" r:id="rId13"/>
    <p:sldId id="294" r:id="rId14"/>
    <p:sldId id="295" r:id="rId15"/>
  </p:sldIdLst>
  <p:sldSz cx="12192000" cy="6858000"/>
  <p:notesSz cx="6858000" cy="9144000"/>
  <p:embeddedFontLst>
    <p:embeddedFont>
      <p:font typeface="Pretendard Black" panose="02000A03000000020004" pitchFamily="50" charset="-127"/>
      <p:bold r:id="rId16"/>
    </p:embeddedFont>
    <p:embeddedFont>
      <p:font typeface="Pretendard Light" panose="02000403000000020004" pitchFamily="50" charset="-127"/>
      <p:regular r:id="rId17"/>
    </p:embeddedFont>
    <p:embeddedFont>
      <p:font typeface="Pretendard Medium" panose="02000603000000020004" pitchFamily="50" charset="-127"/>
      <p:regular r:id="rId18"/>
    </p:embeddedFont>
    <p:embeddedFont>
      <p:font typeface="Pretendard SemiBold" panose="02000703000000020004" pitchFamily="50" charset="-127"/>
      <p:bold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3F260-9B80-4A2D-8599-2DFBC8DBC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0279DA-7010-4FCB-A537-5BA575A84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71D4FD-5BBC-45F0-9AA8-3016256F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BFBB2A-1F8D-4C8A-A745-960F0460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08D1F8-11DC-4F0C-919F-3E2FF04E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81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BB38E-E2F2-404B-A661-A8293644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527224-F7C0-4F8D-9B80-609FB84C4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D0A6E7-66F7-41E3-B8C3-2216EB51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E2730-8698-4334-A177-A762D89A8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96BED-A341-4394-9480-BE5C3886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922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6BF8C-80AE-48E2-BEF2-B6E83D6A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DF322D-16CA-423E-B2E9-37DFE9440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9FF525-E306-4051-9248-4981F7B5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65CD81-ECBB-4F77-AB08-089B14BC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FF3E0D-7FFB-4F38-A7A0-E65092FB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52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ABED5-775E-4B80-8E7B-4533AF27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AD04FA-7076-4517-8857-80D765D79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3AA85B-44CB-4327-868B-09CE3018D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816A5E-93BA-449A-A3DF-8E94869E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692930-B156-476D-9738-04B44D50D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5C10ED-ECB3-43A4-9AE9-A58CAD1A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44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B862C-467A-4014-B290-F93588CE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62A37F-3556-418E-8854-7BC24EA45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A53DA8-2849-4A45-A60E-FFD06D4AB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BD3A34-2E96-4113-BA37-871677A74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4C0AE2-3ECB-4BB4-8D48-5C0502FE1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46155D-6E86-4169-A57A-F407A149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B167E5-97F6-4622-9299-4F431382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596A17-CB37-411F-92DA-A0D28E8F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35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B3D77-1852-4F65-8519-892475E9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7EB3DB-BD38-4F3B-AA80-40904A1E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C2AB9D-13C9-4B07-8610-0F4AB0F4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6083DB-5508-43B4-8BD0-390D5D22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22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4ED975-B92A-46D1-8D75-D491DDEC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79EC17-BC74-4C6E-AF15-39B42A3D1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CDDDAD-3127-43C7-9089-9AB6E2DA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39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29BEC-E26C-496F-85BB-7F6D21DA2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81593-D390-4D5C-95F5-25BF2C168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7FF96C-48F8-41B9-AC35-034BACBDD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D1491F-56DB-409A-824D-F1F3377DE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82E810-15E4-4D93-9E8D-767B3B7F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5FBE6E-6CC1-431F-A910-EF28EA57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03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9098E-AFC8-4889-B028-5704D663F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000C1B-49AF-4F23-9DA4-B7EE8A6F0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E8D631-0EA9-40A4-BC6E-B98C600F1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0FBA1F-C3D3-4940-B6B4-1EFF6FE5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27894D-E839-4D7B-8CC0-BDB13166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B35170-5FE3-47C3-9C28-FE702945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61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6070B-C41A-4A64-A2E6-55A092C5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77508-AD30-4576-A5F0-DB4630236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E8CD12-748D-4CE0-9304-1B4B5528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A7D54E-039B-4FD0-90C2-8AE3C0B50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4B8CA-5E06-4FBE-B9E9-BFB322BE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585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129752-BE4B-41DE-9600-47414F9CA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31CFF4-7343-44F3-B8EB-80A2C1A5B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D9DE26-B528-4802-92DA-BB31C0E4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9F5348-E58D-4F72-9283-4AA1D3FF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8C66E2-35DF-4923-9605-C227860A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3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CAB8BA-1A94-4FED-89E1-8430E797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795DB0-2947-4614-936F-B37B7EBB9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AEF02-B95F-4162-B744-B4D791FB4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9B45D-CC9E-4B1A-B434-872D4AB59007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B1EB7D-7F30-4AD8-A6C1-36235A7C7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9EE8E8-E670-47AA-90CB-B09C0EEA4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55305-F0A9-48F3-A088-466A91BC5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31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AEBEC6-0AA2-E153-F493-F2AAA1FFD051}"/>
              </a:ext>
            </a:extLst>
          </p:cNvPr>
          <p:cNvSpPr txBox="1"/>
          <p:nvPr/>
        </p:nvSpPr>
        <p:spPr>
          <a:xfrm>
            <a:off x="430040" y="4125958"/>
            <a:ext cx="35942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LG Ai</a:t>
            </a:r>
            <a:r>
              <a:rPr lang="en-US" altLang="ko-KR" sz="4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mers 6</a:t>
            </a:r>
            <a:r>
              <a:rPr lang="ko-KR" altLang="en-US" sz="4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689C97-399C-4980-8521-E6D026046AA2}"/>
              </a:ext>
            </a:extLst>
          </p:cNvPr>
          <p:cNvSpPr txBox="1"/>
          <p:nvPr/>
        </p:nvSpPr>
        <p:spPr>
          <a:xfrm>
            <a:off x="430040" y="4780082"/>
            <a:ext cx="1137007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3000" dirty="0"/>
              <a:t>Phase2 </a:t>
            </a:r>
            <a:r>
              <a:rPr lang="ko-KR" altLang="en-US" sz="3000" dirty="0"/>
              <a:t>온라인 </a:t>
            </a:r>
            <a:r>
              <a:rPr lang="ko-KR" altLang="en-US" sz="3000" dirty="0" err="1"/>
              <a:t>해커톤</a:t>
            </a:r>
            <a:r>
              <a:rPr lang="ko-KR" altLang="en-US" sz="3000" dirty="0"/>
              <a:t> 발표자료</a:t>
            </a:r>
            <a:endParaRPr lang="en-US" altLang="ko-KR" sz="3000" dirty="0"/>
          </a:p>
          <a:p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난임 환자 대상 임신 성공 여부 예측 </a:t>
            </a:r>
            <a:r>
              <a:rPr lang="en-US" altLang="ko-KR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AI </a:t>
            </a:r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온라인 </a:t>
            </a:r>
            <a:r>
              <a:rPr lang="ko-KR" altLang="en-US" sz="2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해커톤</a:t>
            </a:r>
            <a:endParaRPr lang="en-US" altLang="ko-KR" sz="2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F180C4-9A92-BFAA-37BF-473E3D767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265" y="312099"/>
            <a:ext cx="5981422" cy="3759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182CFC-62CF-7F81-5281-4E09BC8AD46F}"/>
              </a:ext>
            </a:extLst>
          </p:cNvPr>
          <p:cNvSpPr txBox="1"/>
          <p:nvPr/>
        </p:nvSpPr>
        <p:spPr>
          <a:xfrm>
            <a:off x="430040" y="5658929"/>
            <a:ext cx="3009845" cy="41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600" dirty="0"/>
              <a:t>팀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우리오디가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77206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4002B7-AC37-D750-4CE1-0BE9CCCD70A4}"/>
              </a:ext>
            </a:extLst>
          </p:cNvPr>
          <p:cNvSpPr/>
          <p:nvPr/>
        </p:nvSpPr>
        <p:spPr>
          <a:xfrm>
            <a:off x="2750458" y="3006272"/>
            <a:ext cx="6691085" cy="84545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FFEF15-370C-D0BF-3633-606B1844AB5D}"/>
              </a:ext>
            </a:extLst>
          </p:cNvPr>
          <p:cNvSpPr txBox="1"/>
          <p:nvPr/>
        </p:nvSpPr>
        <p:spPr>
          <a:xfrm>
            <a:off x="3541723" y="3167390"/>
            <a:ext cx="5108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 </a:t>
            </a:r>
            <a:r>
              <a:rPr lang="ko-KR" altLang="en-US" sz="2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전처리</a:t>
            </a:r>
            <a:endParaRPr lang="ko-KR" altLang="en-US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669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의미가 없다고 판단한 컬럼</a:t>
            </a:r>
            <a:r>
              <a:rPr lang="en-US" altLang="ko-KR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제거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0904538" cy="253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아래의 경우와 같은 컬럼은 의미가 없다고 판단하여 순차적으로 제거 진행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모든 행이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결측치로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구성된 컬럼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train data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278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개 컬럼 제거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모두 동일한 값으로 구성된 칼럼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train data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35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개 컬럼 제거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중복 컬럼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중복된 컬럼들 중 한 컬럼만 남기고 제거</a:t>
            </a:r>
            <a:b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train data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26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개 컬럼 제거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‘OK’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결측치만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가진 컬럼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‘HEAD NORMAL COORDINATE X AXIS(Stage1) Judge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Value_Dam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’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변수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제거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D30414-D13B-E69C-90B1-E9CA8600B0C2}"/>
              </a:ext>
            </a:extLst>
          </p:cNvPr>
          <p:cNvSpPr txBox="1"/>
          <p:nvPr/>
        </p:nvSpPr>
        <p:spPr>
          <a:xfrm>
            <a:off x="691395" y="4499483"/>
            <a:ext cx="10768613" cy="87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464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개였던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 data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컬럼이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124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개로 감소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 data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에서 제거된 컬럼을 동일하게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test data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에서도 제거 진행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337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OK </a:t>
            </a:r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값으로 오염된 컬럼 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0904538" cy="150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아래의 컬럼은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OK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값으로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오염됐을뿐더러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결측치도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존재 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HEAD NORMAL COORDINATE X AXIS(Stage1) Collect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Result_Dam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HEAD NORMAL COORDINATE X AXIS(Stage1) Collect Result_Fill1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HEAD NORMAL COORDINATE X AXIS(Stage1) Collect Result_Fill2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8E21B3-CFD7-5857-C8E4-48BCBA05FE39}"/>
              </a:ext>
            </a:extLst>
          </p:cNvPr>
          <p:cNvSpPr txBox="1"/>
          <p:nvPr/>
        </p:nvSpPr>
        <p:spPr>
          <a:xfrm>
            <a:off x="623433" y="3346830"/>
            <a:ext cx="10904538" cy="2398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 컬럼들이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토출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좌표의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X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값이라는 점에 착안해서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Y, Z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값을 이용해서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결측치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대체 시도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OK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값으로 오염된 경우도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결측치로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취급하고 진행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대체되는 값은 새로운 값이 아닌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 열에 존재하는 값들로 대체 진행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결측치가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없는 행들의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X, Y, Z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총 합의 평균을 구함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번에서의 평균에서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결측치가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있는 행들의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Y, Z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값을 뺌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번에서 구한 값과 가장 가까운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고유값으로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대체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702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상관관계가 매우 높은 컬럼들 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0904538" cy="87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상관관계가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 or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-1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 컬럼들 존재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 컬럼들의 관계를 보니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중복도가 높다는 것을 발견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카디널리티가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낮다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5350FDB-7A08-0967-4A7D-9DE48BA1E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92091"/>
              </p:ext>
            </p:extLst>
          </p:nvPr>
        </p:nvGraphicFramePr>
        <p:xfrm>
          <a:off x="1449613" y="2627368"/>
          <a:ext cx="8127999" cy="1402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401338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78415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01755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HEAD NORMAL COORDINATE Y AXIS(Stage2) Collect Result_Fill2</a:t>
                      </a:r>
                      <a:endParaRPr lang="ko-KR" altLang="en-US" sz="1300" b="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HEAD NORMAL COORDINATE Y AXIS(Stage3) Collect Result_Fill2</a:t>
                      </a:r>
                      <a:endParaRPr lang="ko-KR" altLang="en-US" sz="1300" b="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HEAD NORMAL COORDINATE Z AXIS(Stage2) Collect Result_Fill2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780174"/>
                  </a:ext>
                </a:extLst>
              </a:tr>
              <a:tr h="26128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428.0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427.9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243.7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791170"/>
                  </a:ext>
                </a:extLst>
              </a:tr>
              <a:tr h="26128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427.9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428.0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243.5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21132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1324.2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1324.2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243.5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17489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77529A5-6B0D-8FA1-1489-E44331A33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800517"/>
              </p:ext>
            </p:extLst>
          </p:nvPr>
        </p:nvGraphicFramePr>
        <p:xfrm>
          <a:off x="1449614" y="4539343"/>
          <a:ext cx="8127998" cy="899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3999">
                  <a:extLst>
                    <a:ext uri="{9D8B030D-6E8A-4147-A177-3AD203B41FA5}">
                      <a16:colId xmlns:a16="http://schemas.microsoft.com/office/drawing/2014/main" val="2240133881"/>
                    </a:ext>
                  </a:extLst>
                </a:gridCol>
                <a:gridCol w="4063999">
                  <a:extLst>
                    <a:ext uri="{9D8B030D-6E8A-4147-A177-3AD203B41FA5}">
                      <a16:colId xmlns:a16="http://schemas.microsoft.com/office/drawing/2014/main" val="377841596"/>
                    </a:ext>
                  </a:extLst>
                </a:gridCol>
              </a:tblGrid>
              <a:tr h="120751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CURE END POSITION X Collect Result_Fill2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CURE START POSITION X Collect Result_Fill2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80174"/>
                  </a:ext>
                </a:extLst>
              </a:tr>
              <a:tr h="26128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240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1020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791170"/>
                  </a:ext>
                </a:extLst>
              </a:tr>
              <a:tr h="26128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1020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240</a:t>
                      </a:r>
                      <a:endParaRPr lang="ko-KR" altLang="en-US" sz="14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2113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C048805-76F5-4B47-3669-FF65A49C9CD9}"/>
              </a:ext>
            </a:extLst>
          </p:cNvPr>
          <p:cNvSpPr txBox="1"/>
          <p:nvPr/>
        </p:nvSpPr>
        <p:spPr>
          <a:xfrm>
            <a:off x="7004958" y="5596191"/>
            <a:ext cx="2634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</a:t>
            </a:r>
            <a:r>
              <a:rPr lang="ko-KR" altLang="en-US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 </a:t>
            </a:r>
            <a:r>
              <a: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1, 2  </a:t>
            </a:r>
            <a:r>
              <a:rPr lang="ko-KR" altLang="en-US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해당 컬럼들의 고유한 행들</a:t>
            </a:r>
            <a:r>
              <a: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8162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상관관계가 매우 높은 컬럼들 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0904538" cy="1852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 컬럼들을 하나의 컬럼으로 합치는 시도 진행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기본적으로 사칙연산을 통해 여러 컬럼들을 하나의 컬럼으로 통합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합치기 전의 값들의 차이는 유지하기 위해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해당 컬럼들의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고유값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개수를 유지하는 것을 원칙으로 컬럼들을 통합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124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 였던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 data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컬럼이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98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개로 감소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 시도를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test data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에도 똑같이 적용 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6C9D85-8239-8402-EB49-C20C10895D04}"/>
              </a:ext>
            </a:extLst>
          </p:cNvPr>
          <p:cNvSpPr txBox="1"/>
          <p:nvPr/>
        </p:nvSpPr>
        <p:spPr>
          <a:xfrm>
            <a:off x="623433" y="3757255"/>
            <a:ext cx="10904538" cy="150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위의 시도를 상관관계가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0.99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이상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or -0.99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미만인 컬럼들에게도 적용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고유값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개수를 유지하는 원칙을 지킬 수 있는 경우에만 컬럼 통합 진행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98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 였던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 data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컬럼이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77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개로 감소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 시도를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test data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에도 똑같이 적용 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035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범주형 변수 인코딩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0904538" cy="2268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범주가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개인 범주형 변수는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0, 1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구성된 이진변수로 인코딩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 컬럼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Equipment_Dam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Equipment_Fill1, Equipment_Fill2, Chamber Temp. Judge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Value_AutoClave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범주가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 이상인 범주형 변수는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라벨인코딩과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원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핫 인코딩 중 성능이 좋았던 원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핫 인코딩 진행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 컬럼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Model.Suffix_Dam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Workorder_Dam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범주형 변수의 범주 개수만큼 컬럼이 늘어남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train data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의 컬럼 개수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: 745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개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84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불균형 데이터 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1258324" cy="3399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제품 이상여부 판별 프로젝트는 이진분류 문제이며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 불균형 문제 존재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 data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target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(Normal : 38158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AbNormal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2350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샘플링을 통한 데이터 불균형 문제를 해결 시도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여러 샘플링 방법 중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 </a:t>
            </a:r>
            <a:r>
              <a:rPr lang="en-US" altLang="ko-KR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OverSampling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Random </a:t>
            </a:r>
            <a:r>
              <a:rPr lang="en-US" altLang="ko-KR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UnderSampling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최종 후보군으로 선정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외 시도한 샘플링 기법들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EditedNearestNeighbours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CondensedNearestNeighbour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NeighbourhoodCLeaningRule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ADASYN,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OneSidedSelection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TomekLinks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SMOTE,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SMOTETom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SMOTEENN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 </a:t>
            </a:r>
            <a:r>
              <a:rPr lang="en-US" altLang="ko-KR" sz="16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UnderSampling</a:t>
            </a:r>
            <a:r>
              <a:rPr lang="ko-KR" alt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경우는 소수 클래스의 개수 대비 몇 배수까지 </a:t>
            </a:r>
            <a:r>
              <a:rPr lang="ko-KR" altLang="en-US" sz="16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샘플링할지를</a:t>
            </a:r>
            <a:r>
              <a:rPr lang="ko-KR" alt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실험을 통해 선정</a:t>
            </a:r>
            <a:endParaRPr lang="en-US" altLang="ko-KR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 후보군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2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3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2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4002B7-AC37-D750-4CE1-0BE9CCCD70A4}"/>
              </a:ext>
            </a:extLst>
          </p:cNvPr>
          <p:cNvSpPr/>
          <p:nvPr/>
        </p:nvSpPr>
        <p:spPr>
          <a:xfrm>
            <a:off x="2750458" y="3006272"/>
            <a:ext cx="6691085" cy="84545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FFEF15-370C-D0BF-3633-606B1844AB5D}"/>
              </a:ext>
            </a:extLst>
          </p:cNvPr>
          <p:cNvSpPr txBox="1"/>
          <p:nvPr/>
        </p:nvSpPr>
        <p:spPr>
          <a:xfrm>
            <a:off x="3541723" y="3167390"/>
            <a:ext cx="5108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모델 구축</a:t>
            </a:r>
          </a:p>
        </p:txBody>
      </p:sp>
    </p:spTree>
    <p:extLst>
      <p:ext uri="{BB962C8B-B14F-4D97-AF65-F5344CB8AC3E}">
        <p14:creationId xmlns:p14="http://schemas.microsoft.com/office/powerpoint/2010/main" val="23322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 구축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1258324" cy="834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 검증 방법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Stratified-K Fold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방법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분류 문제의 경우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각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폴드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y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값의 클래스 비율을 동일하게 하는 검증 방법이기 때문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929ABE-E3AD-58DA-EF3B-B2A218682976}"/>
              </a:ext>
            </a:extLst>
          </p:cNvPr>
          <p:cNvSpPr txBox="1"/>
          <p:nvPr/>
        </p:nvSpPr>
        <p:spPr>
          <a:xfrm>
            <a:off x="623433" y="2495037"/>
            <a:ext cx="11258324" cy="814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실험할 모델 선정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RandomForest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XGBoost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LightGBM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CatBoost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후보군으로 선정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2D3B98-5E8F-0916-19A1-0346B5CBC44A}"/>
              </a:ext>
            </a:extLst>
          </p:cNvPr>
          <p:cNvSpPr txBox="1"/>
          <p:nvPr/>
        </p:nvSpPr>
        <p:spPr>
          <a:xfrm>
            <a:off x="623433" y="3708794"/>
            <a:ext cx="11258324" cy="2199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 훈련 과정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Stratified- K Fold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데이터를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 set, validation set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으로 분할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 set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대해 샘플링 기법 적용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샘플링 기법이 적용된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 set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이용하여 모델 학습 진행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학습된 모델을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validation set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으로 성능 확인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이를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번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(k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=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진행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반복하여 얻은 성능의 평균값을 확인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3889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앙상블 모델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1258324" cy="2268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앙상블 모델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여러 개의 기본 모델을 활용하여 만든 하나의 새로운 모델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Stacking, bagging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 여러 앙상블 기법을 적용해보았으며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가장 성능이 좋았던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weighted blending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기법을 선택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weighted blending :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모델의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예측값에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대하여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weight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곱하여 최종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output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계산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총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weight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되어야함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분류 모델의 경우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클래스를 예측할 확률을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예측값으로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사용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D3B98-5E8F-0916-19A1-0346B5CBC44A}"/>
              </a:ext>
            </a:extLst>
          </p:cNvPr>
          <p:cNvSpPr txBox="1"/>
          <p:nvPr/>
        </p:nvSpPr>
        <p:spPr>
          <a:xfrm>
            <a:off x="623433" y="3708794"/>
            <a:ext cx="11258324" cy="1852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weighted blending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사용된 모델들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앞선 실험들 중 가장 성능이 좋았던 모델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개를 선정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RandomOverSampling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+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CatBoost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weight : 0.5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RandomUnderSampling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2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CatBoost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weight : 0.3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RandomUnderSampling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3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RandomForest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weight : 0.2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150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임계값</a:t>
            </a:r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최적화 진행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1258324" cy="1575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이진 분류 모델은 특정 클래스에 속할 확률을 예측하며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 확률을 기준으로 특정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임계값을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넘으면 해당 클래스로 예측 진행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보통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임계값은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0.5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지정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최적의 성능을 보여주는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임계값을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 탐색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도출한 최적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임계값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: 0.5109999999999878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해당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임계값을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 최종 예측에 적용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26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후처리 진행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1410724" cy="17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데이터를 살펴보는 중 일정한 규칙 발견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Equipment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관련 변수들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altLang="ko-KR" sz="13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Equipment_Dam</a:t>
            </a:r>
            <a:r>
              <a:rPr lang="en-US" altLang="ko-KR" sz="13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Equipment_Fill1, Equipment_Fill2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dispenser #1 or dispenser #2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값으로 구성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변수들이 동일한 번호를 가지지 않으면 불량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이라는 규칙을 발견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모델을 이용한 예측이 완료된 후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 규칙에 맞지 않은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예측값에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대해서 수정 진행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3D7F630-1CB6-C0F3-341B-831AD00FA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935464"/>
              </p:ext>
            </p:extLst>
          </p:nvPr>
        </p:nvGraphicFramePr>
        <p:xfrm>
          <a:off x="1362527" y="3538248"/>
          <a:ext cx="9626600" cy="2880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5320">
                  <a:extLst>
                    <a:ext uri="{9D8B030D-6E8A-4147-A177-3AD203B41FA5}">
                      <a16:colId xmlns:a16="http://schemas.microsoft.com/office/drawing/2014/main" val="2240133881"/>
                    </a:ext>
                  </a:extLst>
                </a:gridCol>
                <a:gridCol w="1925320">
                  <a:extLst>
                    <a:ext uri="{9D8B030D-6E8A-4147-A177-3AD203B41FA5}">
                      <a16:colId xmlns:a16="http://schemas.microsoft.com/office/drawing/2014/main" val="377841596"/>
                    </a:ext>
                  </a:extLst>
                </a:gridCol>
                <a:gridCol w="1925320">
                  <a:extLst>
                    <a:ext uri="{9D8B030D-6E8A-4147-A177-3AD203B41FA5}">
                      <a16:colId xmlns:a16="http://schemas.microsoft.com/office/drawing/2014/main" val="501755661"/>
                    </a:ext>
                  </a:extLst>
                </a:gridCol>
                <a:gridCol w="1925320">
                  <a:extLst>
                    <a:ext uri="{9D8B030D-6E8A-4147-A177-3AD203B41FA5}">
                      <a16:colId xmlns:a16="http://schemas.microsoft.com/office/drawing/2014/main" val="3199543523"/>
                    </a:ext>
                  </a:extLst>
                </a:gridCol>
                <a:gridCol w="1925320">
                  <a:extLst>
                    <a:ext uri="{9D8B030D-6E8A-4147-A177-3AD203B41FA5}">
                      <a16:colId xmlns:a16="http://schemas.microsoft.com/office/drawing/2014/main" val="3945011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Equipment_Dam</a:t>
                      </a:r>
                      <a:endParaRPr lang="ko-KR" altLang="en-US" sz="1500" b="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Equipment_Fill1</a:t>
                      </a:r>
                      <a:endParaRPr lang="ko-KR" altLang="en-US" sz="1500" b="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Equipment_Fill2</a:t>
                      </a:r>
                      <a:endParaRPr lang="en-US" altLang="ko-KR" sz="1500" b="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train data</a:t>
                      </a:r>
                      <a:r>
                        <a:rPr lang="ko-KR" altLang="en-US" sz="1500" b="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의 개수</a:t>
                      </a:r>
                      <a:endParaRPr lang="en-US" altLang="ko-KR" sz="1500" b="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780174"/>
                  </a:ext>
                </a:extLst>
              </a:tr>
              <a:tr h="2612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정상 </a:t>
                      </a:r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or </a:t>
                      </a:r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25011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791170"/>
                  </a:ext>
                </a:extLst>
              </a:tr>
              <a:tr h="261282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6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21132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174891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13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03079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10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650096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052562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5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626863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dispenser #2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정상 </a:t>
                      </a:r>
                      <a:r>
                        <a:rPr lang="en-US" altLang="ko-KR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or </a:t>
                      </a:r>
                      <a:r>
                        <a:rPr lang="ko-KR" altLang="en-US" sz="15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15461</a:t>
                      </a:r>
                      <a:endParaRPr lang="ko-KR" altLang="en-US" sz="15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249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E5C0048-47C5-6F2D-9683-B1FB7AD4FC9F}"/>
              </a:ext>
            </a:extLst>
          </p:cNvPr>
          <p:cNvSpPr txBox="1"/>
          <p:nvPr/>
        </p:nvSpPr>
        <p:spPr>
          <a:xfrm>
            <a:off x="9506855" y="6418608"/>
            <a:ext cx="1482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</a:t>
            </a:r>
            <a:r>
              <a:rPr lang="ko-KR" altLang="en-US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 </a:t>
            </a:r>
            <a:r>
              <a: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  </a:t>
            </a:r>
            <a:r>
              <a:rPr lang="ko-KR" altLang="en-US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발견한 규칙</a:t>
            </a:r>
            <a:r>
              <a: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5376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88D81-588D-5F9A-10A4-2757C4E878EC}"/>
              </a:ext>
            </a:extLst>
          </p:cNvPr>
          <p:cNvSpPr/>
          <p:nvPr/>
        </p:nvSpPr>
        <p:spPr>
          <a:xfrm>
            <a:off x="399142" y="393700"/>
            <a:ext cx="448583" cy="12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B88D0-4C31-F1EC-C789-87385BE3F657}"/>
              </a:ext>
            </a:extLst>
          </p:cNvPr>
          <p:cNvSpPr txBox="1"/>
          <p:nvPr/>
        </p:nvSpPr>
        <p:spPr>
          <a:xfrm>
            <a:off x="310242" y="565666"/>
            <a:ext cx="545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최종 성능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E837E-EE7B-41B8-9250-E433F42BA0EF}"/>
              </a:ext>
            </a:extLst>
          </p:cNvPr>
          <p:cNvSpPr txBox="1"/>
          <p:nvPr/>
        </p:nvSpPr>
        <p:spPr>
          <a:xfrm>
            <a:off x="623433" y="1343858"/>
            <a:ext cx="11258324" cy="3584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성능은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Stratified-K Fold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평균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f1 score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의미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RandomOverSampling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+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CatBoost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성능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: 0.196268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RandomUnderSampling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2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CatBoost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성능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: 0.192071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RandomUnderSampling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3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배수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lang="en-US" altLang="ko-KR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RandomForest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성능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Wingdings" panose="05000000000000000000" pitchFamily="2" charset="2"/>
              </a:rPr>
              <a:t>0.196817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weighted blending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모델 성능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0.217305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임계값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최적화 적용 후 성능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0.219159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Public Score : 0.219157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Private Score : 0.229658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5977D-2DFC-8894-CF66-F389D527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28" y="565666"/>
            <a:ext cx="1593341" cy="3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7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4873</TotalTime>
  <Words>1075</Words>
  <Application>Microsoft Office PowerPoint</Application>
  <PresentationFormat>와이드스크린</PresentationFormat>
  <Paragraphs>163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Pretendard SemiBold</vt:lpstr>
      <vt:lpstr>Pretendard Light</vt:lpstr>
      <vt:lpstr>Wingdings</vt:lpstr>
      <vt:lpstr>Arial</vt:lpstr>
      <vt:lpstr>맑은 고딕</vt:lpstr>
      <vt:lpstr>Pretendard Medium</vt:lpstr>
      <vt:lpstr>Pretendard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박민규</dc:creator>
  <cp:lastModifiedBy>민규 박</cp:lastModifiedBy>
  <cp:revision>53</cp:revision>
  <dcterms:created xsi:type="dcterms:W3CDTF">2023-09-12T09:20:10Z</dcterms:created>
  <dcterms:modified xsi:type="dcterms:W3CDTF">2025-02-27T06:01:49Z</dcterms:modified>
</cp:coreProperties>
</file>